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56BB7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456BB7"/>
                </a:solidFill>
                <a:latin typeface="Calibri"/>
              </a:rPr>
              <a:t>Global Alzheimer's therapeutics market ($B)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Alzheimer's market ($B)</c:v>
                </c:pt>
              </c:strCache>
            </c:strRef>
          </c:tx>
          <c:spPr>
            <a:solidFill>
              <a:srgbClr val="456BB7"/>
            </a:solidFill>
            <a:ln w="38100" cap="flat">
              <a:solidFill>
                <a:srgbClr val="456B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56BB7"/>
              </a:solidFill>
              <a:ln w="9525" cap="flat">
                <a:solidFill>
                  <a:srgbClr val="456B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2025</c:v>
                  </c:pt>
                  <c:pt idx="2">
                    <c:v>2027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56</c:v>
                </c:pt>
                <c:pt idx="2">
                  <c:v>78</c:v>
                </c:pt>
                <c:pt idx="3">
                  <c:v>105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2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432" y="0"/>
            <a:ext cx="5486263" cy="6858000"/>
          </a:xfrm>
          <a:prstGeom prst="rect">
            <a:avLst/>
          </a:prstGeom>
          <a:solidFill>
            <a:srgbClr val="2F4F8F"/>
          </a:solidFill>
          <a:ln w="12700">
            <a:solidFill>
              <a:srgbClr val="2F4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79752" y="109728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36952" y="155448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85592" y="1645920"/>
            <a:ext cx="73152" cy="73152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85592" y="2057400"/>
            <a:ext cx="73152" cy="73152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85592" y="2468880"/>
            <a:ext cx="73152" cy="73152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85592" y="2880360"/>
            <a:ext cx="73152" cy="73152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85592" y="3291840"/>
            <a:ext cx="73152" cy="73152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85592" y="3703320"/>
            <a:ext cx="73152" cy="73152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85592" y="4114800"/>
            <a:ext cx="73152" cy="73152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85592" y="4526280"/>
            <a:ext cx="73152" cy="73152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85592" y="4937760"/>
            <a:ext cx="73152" cy="73152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82872" y="169164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99992" y="178308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17112" y="192024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9952" y="210312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8512" y="233172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42792" y="260604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42792" y="292608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8512" y="324612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79952" y="352044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17112" y="374904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99992" y="388620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82872" y="3977640"/>
            <a:ext cx="91440" cy="914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indent="0" marL="0">
              <a:buNone/>
            </a:pPr>
            <a:r>
              <a:rPr lang="en-US" sz="22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 ·  FOUNDED 2024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24688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probiotic</a:t>
            </a:r>
            <a:endParaRPr lang="en-US" sz="6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4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solutions.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640080" y="49377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Probiotics, evolved for brain health.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Cambridge science, designed for real life.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 ·  2025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61996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Carbon Technologies — trading name of Healthspan Biotics Ltd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4373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onecarbon.com   ·   yizhou@onecarbon.com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79752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1C-01  ·  EVOLVED PROBIOTIC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91295" y="6400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 ·  PHASE I  ·  NCT07457242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is humanity's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health challenge —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</a:t>
            </a:r>
            <a:pPr indent="0" marL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therapies are expensive (£25K/yr), only delay symptoms, and carry severe side effects. The market is desperate for a safe, early-intervention solution.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5943600" cy="0"/>
          </a:xfrm>
          <a:prstGeom prst="line">
            <a:avLst/>
          </a:prstGeom>
          <a:noFill/>
          <a:ln w="12700">
            <a:solidFill>
              <a:srgbClr val="E0DB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£25K</a:t>
            </a:r>
            <a:pPr indent="0" marL="0">
              <a:buNone/>
            </a:pPr>
            <a:r>
              <a:rPr lang="en-US" sz="3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yr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5715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THERAPY PRICE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pPr indent="0" marL="0">
              <a:buNone/>
            </a:pPr>
            <a:r>
              <a:rPr lang="en-US" sz="30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stage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5715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ALREADY IRREVERSIBLE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146304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pPr algn="ctr" indent="0" marL="0">
              <a:buNone/>
            </a:pPr>
            <a:r>
              <a:rPr lang="en-US" sz="11000" i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2000" dirty="0"/>
          </a:p>
        </p:txBody>
      </p:sp>
      <p:sp>
        <p:nvSpPr>
          <p:cNvPr id="13" name="Text 11"/>
          <p:cNvSpPr/>
          <p:nvPr/>
        </p:nvSpPr>
        <p:spPr>
          <a:xfrm>
            <a:off x="731520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RISK OF DEMENTIA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Fang et al., 2025  ·  PMID 39806070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protects itself through the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one-carbon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pathway —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gut can support it.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gut and brain talk constantly through the gut-brain axis. Specific bacteria produce the metabolites neurons need to stay healthy. Standard supplements can't replace what the right bacteria produce — but the right probiotic can.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338328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4023360"/>
            <a:ext cx="1005840" cy="10058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4023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bacteria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5669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one-carbon metabolites the brain needs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77640" y="4846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97680" y="3657600"/>
            <a:ext cx="338328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4023360"/>
            <a:ext cx="1005840" cy="10058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023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72000" y="5212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Bloodstream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5669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Metabolites travel from gut into the bloodstream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26680" y="4846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38328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4023360"/>
            <a:ext cx="1005840" cy="100584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4023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21040" y="5212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resilience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21040" y="5669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pathways neurons rely 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2F4F8F"/>
          </a:solidFill>
          <a:ln w="12700">
            <a:solidFill>
              <a:srgbClr val="2F4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276856"/>
            <a:ext cx="201168" cy="0"/>
          </a:xfrm>
          <a:prstGeom prst="line">
            <a:avLst/>
          </a:prstGeom>
          <a:noFill/>
          <a:ln w="19050">
            <a:solidFill>
              <a:srgbClr val="E2E9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167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bacteria that </a:t>
            </a:r>
            <a:pPr indent="0" marL="0">
              <a:lnSpc>
                <a:spcPct val="110000"/>
              </a:lnSpc>
              <a:buNone/>
            </a:pPr>
            <a:r>
              <a:rPr lang="en-US" sz="3600" i="1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lives in your gut</a:t>
            </a:r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just made it work harder for your brain.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naturally occurring gut strain, evolved in our Cambridge lab to produce the exact one-carbon molecules your neurons need.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44488" y="145389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0520" y="1344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44488" y="1737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probiotic. Food-grade.
</a:t>
            </a:r>
            <a:pPr indent="0" marL="0">
              <a:lnSpc>
                <a:spcPct val="115000"/>
              </a:lnSpc>
              <a:buNone/>
            </a:pPr>
            <a:r>
              <a:rPr lang="en-US" sz="28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drug.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644488" y="3383280"/>
            <a:ext cx="557784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4488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10248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Directed-evolution strain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0248" y="3840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one-carbon metabolite output over a year of optimisation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44488" y="4389120"/>
            <a:ext cx="557784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4488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10248" y="4480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Food-grade, non-GMO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10248" y="4846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take alongside existing medication and supplements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44488" y="5394960"/>
            <a:ext cx="557784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4488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10248" y="5486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capsule daily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10248" y="5852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injection, no clinic visit, no cold chain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Cambridge studies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peer-reviewed and replicated.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developed novel machine-learning methods that integrate genomics, metabolomics, proteomics and single-cell transcriptomics — to discover a pathway critical to cellular resilience in Alzheimer's.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Death &amp; Disease  ·  2024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Mitochondrial one-carbon metabolism in Alzheimer's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Yu, Y., et al. — discovery of the cellular resilience pathway.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937760"/>
            <a:ext cx="320040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983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 39582067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Death &amp; Disease  ·  2021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is neuroprotective in primary neurons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4434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Yu, Y., et al. — first mechanistic validation in human neurons.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4937760"/>
            <a:ext cx="320040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4983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 34172715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0" y="32918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Death &amp; Disease  · 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Translational mechanism &amp; metabolic regulation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4434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&amp; Martins, et al. — pathway in vivo, validated at scale.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4937760"/>
            <a:ext cx="320040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4983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 38928008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6424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CAMBRIDGE STUDIES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337560" y="6263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MITOCHONDRIAL FUNCTION UPLIFT IN ANIMAL MODELS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0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126480" y="6263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 PARTICIPANTS (AGED 50–65)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915400" y="5715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915400" y="6263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spc="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COHORT CROSS-VALIDATION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1C-01</a:t>
            </a:r>
            <a:pPr indent="0" marL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precision probiotic, in a daily capsule.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754880" cy="4023360"/>
          </a:xfrm>
          <a:prstGeom prst="roundRect">
            <a:avLst>
              <a:gd name="adj" fmla="val 6818"/>
            </a:avLst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3657600"/>
            <a:ext cx="1645920" cy="1463040"/>
          </a:xfrm>
          <a:prstGeom prst="roundRect">
            <a:avLst>
              <a:gd name="adj" fmla="val 43750"/>
            </a:avLst>
          </a:prstGeom>
          <a:solidFill>
            <a:srgbClr val="FFFFFF"/>
          </a:solidFill>
          <a:ln w="12700">
            <a:solidFill>
              <a:srgbClr val="E0D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657600"/>
            <a:ext cx="1645920" cy="731520"/>
          </a:xfrm>
          <a:prstGeom prst="roundRect">
            <a:avLst>
              <a:gd name="adj" fmla="val 50000"/>
            </a:avLst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1C-01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468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468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4088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Food-grade capsule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day, taken with water in the morning.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34747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04088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evolved strain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in the gut and produces one-carbon metabolites.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4480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408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Non-GMO, drug-free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4800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alongside existing medication and supplements.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54864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548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40880" y="5486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assessment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5806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7-question screener identifies candidate users.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resilience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four-step biological journey.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3127248"/>
            <a:ext cx="329184" cy="329184"/>
          </a:xfrm>
          <a:prstGeom prst="ellipse">
            <a:avLst/>
          </a:prstGeom>
          <a:solidFill>
            <a:srgbClr val="F7F5F0"/>
          </a:solidFill>
          <a:ln w="31750">
            <a:solidFill>
              <a:srgbClr val="456B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take 1C-01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food-grade capsule daily — designed for long-term consistency, no cold chain, no clinic visit.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3127248"/>
            <a:ext cx="329184" cy="329184"/>
          </a:xfrm>
          <a:prstGeom prst="ellipse">
            <a:avLst/>
          </a:prstGeom>
          <a:solidFill>
            <a:srgbClr val="F7F5F0"/>
          </a:solidFill>
          <a:ln w="31750">
            <a:solidFill>
              <a:srgbClr val="456B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establish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91840" y="416052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capsule reaches your gut, where the evolved strain begins establishing in the microbiome.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3127248"/>
            <a:ext cx="329184" cy="329184"/>
          </a:xfrm>
          <a:prstGeom prst="ellipse">
            <a:avLst/>
          </a:prstGeom>
          <a:solidFill>
            <a:srgbClr val="F7F5F0"/>
          </a:solidFill>
          <a:ln w="31750">
            <a:solidFill>
              <a:srgbClr val="456B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Metabolites produced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35040" y="416052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evolved strain produces one-carbon molecules your neurons need — they enter the bloodstream.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12680" y="3127248"/>
            <a:ext cx="329184" cy="329184"/>
          </a:xfrm>
          <a:prstGeom prst="ellipse">
            <a:avLst/>
          </a:prstGeom>
          <a:solidFill>
            <a:srgbClr val="F7F5F0"/>
          </a:solidFill>
          <a:ln w="31750">
            <a:solidFill>
              <a:srgbClr val="456B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1268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resilience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778240" y="416052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weeks, the pathway is supported. Most users notice meaningful changes by weeks 4–8.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+ pilot data — </a:t>
            </a:r>
            <a:pPr indent="0" marL="0">
              <a:lnSpc>
                <a:spcPct val="108000"/>
              </a:lnSpc>
              <a:buNone/>
            </a:pPr>
            <a:r>
              <a:rPr lang="en-US" sz="36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signal</a:t>
            </a:r>
            <a:pPr indent="0" marL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real users.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of Cambridge science, three independent papers, animal-model validation, and a first-in-human pilot with healthy adults aged 50–65.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61188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00400"/>
            <a:ext cx="3611880" cy="73152"/>
          </a:xfrm>
          <a:prstGeom prst="rect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661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Mitochondrial function uplift in Alzheimer's animal models — the core efficacy signal.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852160"/>
            <a:ext cx="306324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897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ET AL., 2024  ·  PMID 39582067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97680" y="3200400"/>
            <a:ext cx="361188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3200400"/>
            <a:ext cx="3611880" cy="73152"/>
          </a:xfrm>
          <a:prstGeom prst="rect">
            <a:avLst/>
          </a:prstGeom>
          <a:solidFill>
            <a:srgbClr val="2F4F8F"/>
          </a:solidFill>
          <a:ln w="12700">
            <a:solidFill>
              <a:srgbClr val="2F4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5661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2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457200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 reported in our Cambridge pilot — a food-grade safety profile.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5852160"/>
            <a:ext cx="306324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5897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  ·  50–65 YRS  ·  PILOT STUDY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46720" y="3200400"/>
            <a:ext cx="361188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3200400"/>
            <a:ext cx="3611880" cy="73152"/>
          </a:xfrm>
          <a:prstGeom prst="rect">
            <a:avLst/>
          </a:prstGeom>
          <a:solidFill>
            <a:srgbClr val="7995C9"/>
          </a:solidFill>
          <a:ln w="12700">
            <a:solidFill>
              <a:srgbClr val="7995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5661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79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832104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retention — strong product-market fit signal from early users.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5852160"/>
            <a:ext cx="306324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5897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FOLLOW-UP  ·  100% COMPLETION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1C-01 is a dietary supplement. Not MHRA-approved to diagnose, treat or prevent disease.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71183" y="0"/>
            <a:ext cx="5120512" cy="6858000"/>
          </a:xfrm>
          <a:prstGeom prst="rect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28383" y="9144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4533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35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our Phase I clinical trial is registered.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1C-01 in adults with cognitive concerns. The trial pairs the probiotic with personalised biomarker monitoring — and produces the human data that builds the clinical asset.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394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NCT07457242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5394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SITE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5623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CTU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+ biomarkers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6035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6263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IND/CTA readiness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28383" y="21945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8383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 ·  PHASE 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28383" y="27432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pPr indent="0" marL="0">
              <a:buNone/>
            </a:pPr>
            <a:r>
              <a:rPr lang="en-US" sz="10000" i="1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0" dirty="0"/>
          </a:p>
        </p:txBody>
      </p:sp>
      <p:sp>
        <p:nvSpPr>
          <p:cNvPr id="20" name="Text 18"/>
          <p:cNvSpPr/>
          <p:nvPr/>
        </p:nvSpPr>
        <p:spPr>
          <a:xfrm>
            <a:off x="7528383" y="44805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6D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Registered, sign-up live, and recruiting through the OneCarbon community.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28383" y="5577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APPLY AT ONECARBON.COM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— LIVE TODAY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SKUs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onecarbon.com — direct, recurring, and validated.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743200" cy="32918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43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K03  ·  TRIAL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pills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supply — the entry SKU for new users.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377440"/>
            <a:ext cx="2743200" cy="32918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743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743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K02  ·  CORE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pills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657600" y="4846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supply — the most popular subscription tier.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2743200" cy="32918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743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2E9F4"/>
          </a:solidFill>
          <a:ln w="12700">
            <a:solidFill>
              <a:srgbClr val="E2E9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743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K01  ·  ANNUAL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9224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pills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£250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Year's supply — committed users on long-term routines.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2377440"/>
            <a:ext cx="2743200" cy="3291840"/>
          </a:xfrm>
          <a:prstGeom prst="roundRect">
            <a:avLst>
              <a:gd name="adj" fmla="val 6667"/>
            </a:avLst>
          </a:prstGeom>
          <a:solidFill>
            <a:srgbClr val="456BB7"/>
          </a:solidFill>
          <a:ln w="9525">
            <a:solidFill>
              <a:srgbClr val="456B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2743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743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K00  ·  PREMIUM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32688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2688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£499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9326880" y="4846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D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supply + biomarker testing — clinical-grade tier.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6309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33756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GEO-CURRENCY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37560" y="6309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markets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12648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26480" y="6309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subscription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91540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PROFILE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915400" y="6309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Food-grade scale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live at onecarbon.com/purchase.html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validated by the world's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selective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award programmes.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697480" cy="329184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8740" y="3108960"/>
            <a:ext cx="1097280" cy="109728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8740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Walls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of 100 at global Lab finale (2023)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560320"/>
            <a:ext cx="2697480" cy="329184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7660" y="3108960"/>
            <a:ext cx="1097280" cy="109728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7660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20440" y="4480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4937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Under 30 — Science recognition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560320"/>
            <a:ext cx="2697480" cy="329184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26580" y="3108960"/>
            <a:ext cx="1097280" cy="109728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6580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4480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Bradfield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4937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prize winner (2024)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15400" y="2560320"/>
            <a:ext cx="2697480" cy="329184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15500" y="3108960"/>
            <a:ext cx="1097280" cy="109728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15500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98280" y="4480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Society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98280" y="4937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Launchpad cohort (2025)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08000"/>
              </a:lnSpc>
              <a:buNone/>
            </a:pPr>
            <a:r>
              <a:rPr lang="en-US" sz="30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</a:t>
            </a:r>
            <a:pPr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playbook — supplement revenue funds clinical validation.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97480"/>
            <a:ext cx="1828800" cy="320040"/>
          </a:xfrm>
          <a:prstGeom prst="roundRect">
            <a:avLst>
              <a:gd name="adj" fmla="val 51429"/>
            </a:avLst>
          </a:prstGeom>
          <a:solidFill>
            <a:srgbClr val="2F4F8F"/>
          </a:solidFill>
          <a:ln w="12700">
            <a:solidFill>
              <a:srgbClr val="2F4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 ·  COMMERCIAL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+ real-world data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premium, science-driven consumer product. Builds brand, generates cash flow, feeds human data into the trial.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481888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subscription from day one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518464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 → £499 SKU ladder live on Stripe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555040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learning loops with real users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37744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F0F4FA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697480"/>
            <a:ext cx="1828800" cy="320040"/>
          </a:xfrm>
          <a:prstGeom prst="roundRect">
            <a:avLst>
              <a:gd name="adj" fmla="val 51429"/>
            </a:avLst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 ·  CLINICAL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Phase I + IP moat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3749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clinical track that creates a high-value asset pharma partners will pay for.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481888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NCT07457242 registered, recruiting now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66560" y="518464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biomarker package + IP filed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555040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IND/CTA-ready inside 36 months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630936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0E1521"/>
          </a:solidFill>
          <a:ln w="12700">
            <a:solidFill>
              <a:srgbClr val="0E15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6309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INTEGRATION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63093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users power trial recruitment and human-data generation — de-risking the clinical asset and multiplying exit value.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$100B+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market by 2030 — and we're early in a new category.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7744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2468880"/>
            <a:ext cx="45720" cy="1188720"/>
          </a:xfrm>
          <a:prstGeom prst="rect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86384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$100B+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86384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Alzheimer's therapeutics market by 2030.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3840480"/>
            <a:ext cx="45720" cy="1188720"/>
          </a:xfrm>
          <a:prstGeom prst="rect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3840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PRE-DIAGNOSTIC TAM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6384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$40B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86384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50+ concerned about cognitive decline — our prevention-stage segment.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5212080"/>
            <a:ext cx="45720" cy="1188720"/>
          </a:xfrm>
          <a:prstGeom prst="rect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5212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863840" y="5486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· US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63840" y="5989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English-speaking direct markets first, with EU/AU/CN approvals to follow.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step already laid.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0698480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962656"/>
            <a:ext cx="292608" cy="292608"/>
          </a:xfrm>
          <a:prstGeom prst="ellipse">
            <a:avLst/>
          </a:prstGeom>
          <a:solidFill>
            <a:srgbClr val="F7F5F0"/>
          </a:solidFill>
          <a:ln w="31750">
            <a:solidFill>
              <a:srgbClr val="456B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— 2022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begins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Cambridge PhD work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Pathway discovered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67328" y="2962656"/>
            <a:ext cx="292608" cy="292608"/>
          </a:xfrm>
          <a:prstGeom prst="ellipse">
            <a:avLst/>
          </a:prstGeom>
          <a:solidFill>
            <a:srgbClr val="F7F5F0"/>
          </a:solidFill>
          <a:ln w="31750">
            <a:solidFill>
              <a:srgbClr val="456B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7208" y="34747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07208" y="37490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recognition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07208" y="42062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Falling Walls 2nd of 100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CSAR Student Award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2962656"/>
            <a:ext cx="292608" cy="292608"/>
          </a:xfrm>
          <a:prstGeom prst="ellipse">
            <a:avLst/>
          </a:prstGeom>
          <a:solidFill>
            <a:srgbClr val="F7F5F0"/>
          </a:solidFill>
          <a:ln w="31750">
            <a:solidFill>
              <a:srgbClr val="456B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34747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65776" y="37490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1C-01 built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65776" y="42062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Directed-evolution strain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First-in-human testing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Trinity Bradfield prize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84464" y="2962656"/>
            <a:ext cx="292608" cy="292608"/>
          </a:xfrm>
          <a:prstGeom prst="ellipse">
            <a:avLst/>
          </a:prstGeom>
          <a:solidFill>
            <a:srgbClr val="F7F5F0"/>
          </a:solidFill>
          <a:ln w="31750">
            <a:solidFill>
              <a:srgbClr val="456B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24344" y="34747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24344" y="37490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launched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24344" y="42062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Pilot group live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Alz. Society Launchpad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PROFILE registered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543032" y="2962656"/>
            <a:ext cx="292608" cy="292608"/>
          </a:xfrm>
          <a:prstGeom prst="ellipse">
            <a:avLst/>
          </a:prstGeom>
          <a:solidFill>
            <a:srgbClr val="456BB7"/>
          </a:solidFill>
          <a:ln w="31750">
            <a:solidFill>
              <a:srgbClr val="456B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82912" y="34747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2028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82912" y="37490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validate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82912" y="42062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PROFILE readout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D2C scale-up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IND/CTA prep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Science, clinic, and execution — built by a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Cambridge-anchored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team.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48740" y="2468880"/>
            <a:ext cx="1097280" cy="1097280"/>
          </a:xfrm>
          <a:prstGeom prst="ellipse">
            <a:avLst/>
          </a:prstGeom>
          <a:solidFill>
            <a:srgbClr val="456B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874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Yizhou Yu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 ·  CEO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Award-winning neuroscientist &amp; computational biologist. 15+ publications. 8 years in neurodegeneration research.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83380" y="2468880"/>
            <a:ext cx="1097280" cy="1097280"/>
          </a:xfrm>
          <a:prstGeom prst="ellipse">
            <a:avLst/>
          </a:prstGeom>
          <a:solidFill>
            <a:srgbClr val="456B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338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2880" dirty="0"/>
          </a:p>
        </p:txBody>
      </p:sp>
      <p:sp>
        <p:nvSpPr>
          <p:cNvPr id="13" name="Text 11"/>
          <p:cNvSpPr/>
          <p:nvPr/>
        </p:nvSpPr>
        <p:spPr>
          <a:xfrm>
            <a:off x="338328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Galbraith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4480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Oxford (Human Sciences). Biotech start-ups (iPSC) + investment banking. Motivated by family history of 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18020" y="2468880"/>
            <a:ext cx="1097280" cy="1097280"/>
          </a:xfrm>
          <a:prstGeom prst="ellipse">
            <a:avLst/>
          </a:prstGeom>
          <a:solidFill>
            <a:srgbClr val="456B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802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621792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McMillan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4480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Oxford (PPE). Founded a government-contract operations company. Financial-sector operational experience.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52660" y="2468880"/>
            <a:ext cx="1097280" cy="1097280"/>
          </a:xfrm>
          <a:prstGeom prst="ellipse">
            <a:avLst/>
          </a:prstGeom>
          <a:solidFill>
            <a:srgbClr val="456B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5266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2880" dirty="0"/>
          </a:p>
        </p:txBody>
      </p:sp>
      <p:sp>
        <p:nvSpPr>
          <p:cNvPr id="23" name="Text 21"/>
          <p:cNvSpPr/>
          <p:nvPr/>
        </p:nvSpPr>
        <p:spPr>
          <a:xfrm>
            <a:off x="905256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Suleyman Noordeen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5256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LEAD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0" y="4480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doctor with multi-year clinical research experience. Recognised for translating complex science to wide audiences.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852160"/>
            <a:ext cx="11064240" cy="0"/>
          </a:xfrm>
          <a:prstGeom prst="line">
            <a:avLst/>
          </a:prstGeom>
          <a:noFill/>
          <a:ln w="9525">
            <a:solidFill>
              <a:srgbClr val="E0D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5989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5989320"/>
            <a:ext cx="548640" cy="548640"/>
          </a:xfrm>
          <a:prstGeom prst="ellipse">
            <a:avLst/>
          </a:prstGeom>
          <a:solidFill>
            <a:srgbClr val="456B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5989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42976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Simon Galbraith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97680" y="6236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 ·  Previously CEO &amp; co-founder of Redgate Software (20+ years). Chair at RoboK. Board member across software and biotech.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92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algn="r" indent="0" marL="0">
              <a:buNone/>
            </a:pPr>
            <a:r>
              <a:rPr lang="en-US" sz="1300" b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85216"/>
            <a:ext cx="201168" cy="0"/>
          </a:xfrm>
          <a:prstGeom prst="line">
            <a:avLst/>
          </a:prstGeom>
          <a:noFill/>
          <a:ln w="19050">
            <a:solidFill>
              <a:srgbClr val="456B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category — and we are </a:t>
            </a:r>
            <a:pPr indent="0" marL="0">
              <a:lnSpc>
                <a:spcPct val="108000"/>
              </a:lnSpc>
              <a:buNone/>
            </a:pPr>
            <a:r>
              <a:rPr lang="en-US" sz="3200" i="1" dirty="0">
                <a:solidFill>
                  <a:srgbClr val="456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</a:t>
            </a:r>
            <a:pPr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57600" cy="4023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51760"/>
            <a:ext cx="2194560" cy="320040"/>
          </a:xfrm>
          <a:prstGeom prst="roundRect">
            <a:avLst>
              <a:gd name="adj" fmla="val 51429"/>
            </a:avLst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SUPPLEMENTS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science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brain-health supplements are safe but lack any clinical or mechanistic backing.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95604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peer-reviewed Cambridge papers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532180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212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mechanism of 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568756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577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trial registered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377440"/>
            <a:ext cx="3657600" cy="4023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651760"/>
            <a:ext cx="2194560" cy="320040"/>
          </a:xfrm>
          <a:prstGeom prst="roundRect">
            <a:avLst>
              <a:gd name="adj" fmla="val 51429"/>
            </a:avLst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MONOCLONALS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affordable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17720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Anti-Aβ antibodies cost £25K/yr and risk brain swelling. We're a daily capsule.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495604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 cheaper than monoclonals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532180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5212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infusions, no clinic visits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568756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5577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adverse events in pilot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2377440"/>
            <a:ext cx="3657600" cy="4023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B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2651760"/>
            <a:ext cx="2194560" cy="320040"/>
          </a:xfrm>
          <a:prstGeom prst="roundRect">
            <a:avLst>
              <a:gd name="adj" fmla="val 51429"/>
            </a:avLst>
          </a:prstGeom>
          <a:solidFill>
            <a:srgbClr val="2F4F8F"/>
          </a:solidFill>
          <a:ln w="12700">
            <a:solidFill>
              <a:srgbClr val="2F4F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DRUG PIPELINE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revenue, today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12480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AD candidates are 5–10 years from market. We're shipping product now.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03920" y="495604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SKUs live on Stripe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532180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5212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users, real data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03920" y="5687568"/>
            <a:ext cx="73152" cy="73152"/>
          </a:xfrm>
          <a:prstGeom prst="ellipse">
            <a:avLst/>
          </a:prstGeom>
          <a:solidFill>
            <a:srgbClr val="456BB7"/>
          </a:solidFill>
          <a:ln w="12700">
            <a:solidFill>
              <a:srgbClr val="456B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5577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Capital-efficient runway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2F4F8F"/>
          </a:solidFill>
          <a:ln w="12700">
            <a:solidFill>
              <a:srgbClr val="2F4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217" y="4572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indent="0" marL="0">
              <a:buNone/>
            </a:pPr>
            <a:r>
              <a:rPr lang="en-US" sz="1800" b="1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636776"/>
            <a:ext cx="201168" cy="0"/>
          </a:xfrm>
          <a:prstGeom prst="line">
            <a:avLst/>
          </a:prstGeom>
          <a:noFill/>
          <a:ln w="19050">
            <a:solidFill>
              <a:srgbClr val="E2E9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27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·  BUILD WITH US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 ·  effective  ·  affordable
</a:t>
            </a:r>
            <a:pPr indent="0" marL="0">
              <a:lnSpc>
                <a:spcPct val="110000"/>
              </a:lnSpc>
              <a:buNone/>
            </a:pPr>
            <a:r>
              <a:rPr lang="en-US" sz="3200" i="1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brain-health</a:t>
            </a:r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care for everyone.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6400800" cy="0"/>
          </a:xfrm>
          <a:prstGeom prst="line">
            <a:avLst/>
          </a:prstGeom>
          <a:noFill/>
          <a:ln w="6350">
            <a:solidFill>
              <a:srgbClr val="2A3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Phase I — recruitment, dosing, biomarker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£320K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6400800" cy="0"/>
          </a:xfrm>
          <a:prstGeom prst="line">
            <a:avLst/>
          </a:prstGeom>
          <a:noFill/>
          <a:ln w="6350">
            <a:solidFill>
              <a:srgbClr val="2A3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43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scale-up &amp; supply chain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03520"/>
            <a:ext cx="6400800" cy="0"/>
          </a:xfrm>
          <a:prstGeom prst="line">
            <a:avLst/>
          </a:prstGeom>
          <a:noFill/>
          <a:ln w="6350">
            <a:solidFill>
              <a:srgbClr val="2A3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46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commercial — performance marketing &amp; retention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4937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806440"/>
            <a:ext cx="6400800" cy="0"/>
          </a:xfrm>
          <a:prstGeom prst="line">
            <a:avLst/>
          </a:prstGeom>
          <a:noFill/>
          <a:ln w="6350">
            <a:solidFill>
              <a:srgbClr val="2A33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49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IND/CTA prep &amp; regulatory readiness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5440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£80K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yizhou@onecarbon.com   ·   onecarbon.com   ·   Dr Yi Zhou Yu, CEO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777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RAISING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777" y="246888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</a:t>
            </a:r>
            <a:pPr algn="ctr" indent="0" marL="0">
              <a:buNone/>
            </a:pPr>
            <a:r>
              <a:rPr lang="en-US" sz="14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pPr algn="ctr" indent="0" marL="0">
              <a:buNone/>
            </a:pPr>
            <a:r>
              <a:rPr lang="en-US" sz="7000" i="1" dirty="0">
                <a:solidFill>
                  <a:srgbClr val="E2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7863657" y="50292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round — fund PROFILE Phase I + scale commercial + IND/CTA readiness.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82009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One Carbon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OneCarbon — Investor Deck</dc:title>
  <dc:subject>PptxGenJS Presentation</dc:subject>
  <dc:creator>Dr. Yi Zhou Yu</dc:creator>
  <cp:lastModifiedBy>Dr. Yi Zhou Yu</cp:lastModifiedBy>
  <cp:revision>1</cp:revision>
  <dcterms:created xsi:type="dcterms:W3CDTF">2026-06-03T13:21:18Z</dcterms:created>
  <dcterms:modified xsi:type="dcterms:W3CDTF">2026-06-03T13:21:18Z</dcterms:modified>
</cp:coreProperties>
</file>